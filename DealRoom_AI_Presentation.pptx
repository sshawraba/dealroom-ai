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38528" y="676656"/>
            <a:ext cx="1170432" cy="4681728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0" y="676656"/>
            <a:ext cx="1170432" cy="468172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2614" y="1613001"/>
            <a:ext cx="702259" cy="128747"/>
          </a:xfrm>
          <a:prstGeom prst="rect">
            <a:avLst/>
          </a:prstGeom>
          <a:solidFill>
            <a:srgbClr val="B8A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2614" y="2221626"/>
            <a:ext cx="702259" cy="128747"/>
          </a:xfrm>
          <a:prstGeom prst="rect">
            <a:avLst/>
          </a:prstGeom>
          <a:solidFill>
            <a:srgbClr val="B8A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2614" y="2830250"/>
            <a:ext cx="702259" cy="128747"/>
          </a:xfrm>
          <a:prstGeom prst="rect">
            <a:avLst/>
          </a:prstGeom>
          <a:solidFill>
            <a:srgbClr val="B8A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72614" y="3438875"/>
            <a:ext cx="702259" cy="128747"/>
          </a:xfrm>
          <a:prstGeom prst="rect">
            <a:avLst/>
          </a:prstGeom>
          <a:solidFill>
            <a:srgbClr val="B8A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72614" y="4047500"/>
            <a:ext cx="702259" cy="128747"/>
          </a:xfrm>
          <a:prstGeom prst="rect">
            <a:avLst/>
          </a:prstGeom>
          <a:solidFill>
            <a:srgbClr val="B8A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3046" y="1613001"/>
            <a:ext cx="702259" cy="12874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3046" y="2221626"/>
            <a:ext cx="617988" cy="12874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3046" y="2830250"/>
            <a:ext cx="533716" cy="12874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67481" y="3754892"/>
            <a:ext cx="1053388" cy="1053388"/>
          </a:xfrm>
          <a:prstGeom prst="ellipse">
            <a:avLst/>
          </a:prstGeom>
          <a:noFill/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30828" y="4275734"/>
            <a:ext cx="146304" cy="14630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30828" y="4307921"/>
            <a:ext cx="632033" cy="14630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1920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14211A"/>
                </a:solidFill>
                <a:latin typeface="Georgia"/>
              </a:rPr>
              <a:t>DealRoom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920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0" i="0">
                <a:solidFill>
                  <a:srgbClr val="1A5E3A"/>
                </a:solidFill>
                <a:latin typeface="Georgia"/>
              </a:rPr>
              <a:t>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788920"/>
            <a:ext cx="457200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2926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11A"/>
                </a:solidFill>
                <a:latin typeface="Helvetica Neue"/>
              </a:rPr>
              <a:t>DUE DILIGENCE.  REIMAGINED.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4564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E3A"/>
                </a:solidFill>
                <a:latin typeface="Georgia"/>
              </a:rPr>
              <a:t>AI-Powered M&amp;A Due Diligence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AF9C"/>
                </a:solidFill>
                <a:latin typeface="Helvetica Neue"/>
              </a:rPr>
              <a:t>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DealRoom AI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5E3A"/>
                </a:solidFill>
                <a:latin typeface="Georgia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52044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F9C"/>
                </a:solidFill>
                <a:latin typeface="Helvetica Neue"/>
              </a:rPr>
              <a:t>Traditional M&amp;A due diligence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200400" cy="128016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84B"/>
                </a:solidFill>
                <a:latin typeface="Georgia"/>
              </a:rPr>
              <a:t>6–12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AF9F5"/>
                </a:solidFill>
                <a:latin typeface="Helvetica Neue"/>
              </a:rPr>
              <a:t>average time for a full DD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417320"/>
            <a:ext cx="3200400" cy="128016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508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84B"/>
                </a:solidFill>
                <a:latin typeface="Georgia"/>
              </a:rPr>
              <a:t>10+ Analysts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AF9F5"/>
                </a:solidFill>
                <a:latin typeface="Helvetica Neue"/>
              </a:rPr>
              <a:t>reading thousands of pages manually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417320"/>
            <a:ext cx="3200400" cy="128016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508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84B"/>
                </a:solidFill>
                <a:latin typeface="Georgia"/>
              </a:rPr>
              <a:t>~30% of deals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AF9F5"/>
                </a:solidFill>
                <a:latin typeface="Helvetica Neue"/>
              </a:rPr>
              <a:t>miss critical risks during diligence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10607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650">
                <a:solidFill>
                  <a:srgbClr val="14211A"/>
                </a:solidFill>
                <a:latin typeface="Helvetica Neue"/>
              </a:rPr>
              <a:t>Analysts drown in PDFs — financial statements, legal contracts, market reports</a:t>
            </a:r>
          </a:p>
          <a:p>
            <a:pPr>
              <a:spcAft>
                <a:spcPts val="900"/>
              </a:spcAft>
            </a:pPr>
            <a:r>
              <a:rPr sz="16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650">
                <a:solidFill>
                  <a:srgbClr val="14211A"/>
                </a:solidFill>
                <a:latin typeface="Helvetica Neue"/>
              </a:rPr>
              <a:t>Coverage is inconsistent; the most junior person reads the most documents</a:t>
            </a:r>
          </a:p>
          <a:p>
            <a:pPr>
              <a:spcAft>
                <a:spcPts val="900"/>
              </a:spcAft>
            </a:pPr>
            <a:r>
              <a:rPr sz="16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650">
                <a:solidFill>
                  <a:srgbClr val="14211A"/>
                </a:solidFill>
                <a:latin typeface="Helvetica Neue"/>
              </a:rPr>
              <a:t>No centralised audit trail — version chaos across email and shared drives</a:t>
            </a:r>
          </a:p>
          <a:p>
            <a:pPr>
              <a:spcAft>
                <a:spcPts val="900"/>
              </a:spcAft>
            </a:pPr>
            <a:r>
              <a:rPr sz="16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650">
                <a:solidFill>
                  <a:srgbClr val="14211A"/>
                </a:solidFill>
                <a:latin typeface="Helvetica Neue"/>
              </a:rPr>
              <a:t>Findings are unstructured prose with no traceable citations</a:t>
            </a:r>
          </a:p>
          <a:p>
            <a:pPr>
              <a:spcAft>
                <a:spcPts val="900"/>
              </a:spcAft>
            </a:pPr>
            <a:r>
              <a:rPr sz="16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650">
                <a:solidFill>
                  <a:srgbClr val="14211A"/>
                </a:solidFill>
                <a:latin typeface="Helvetica Neue"/>
              </a:rPr>
              <a:t>Regulatory and legal red flags get buried in 400-page data rooms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5E3A"/>
                </a:solidFill>
                <a:latin typeface="Georgia"/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52044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F9C"/>
                </a:solidFill>
                <a:latin typeface="Helvetica Neue"/>
              </a:rPr>
              <a:t>DealRoom AI — from documents to deal brief in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607040" cy="105156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4211A"/>
                </a:solidFill>
                <a:latin typeface="Georgia"/>
              </a:rPr>
              <a:t>Upload your data room documents → AI agents process, research, and synthesise → Structured due diligence report with citations, risk score, and management Q&amp;A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32918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3291840" cy="50292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84B"/>
                </a:solidFill>
                <a:latin typeface="Georgia"/>
              </a:rP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211A"/>
                </a:solidFill>
                <a:latin typeface="Helvetica Neue"/>
              </a:rPr>
              <a:t>Hours, not weeks.
Three AI agents work in parallel while analysts focus on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651760"/>
            <a:ext cx="32918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651760"/>
            <a:ext cx="3291840" cy="50292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697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84B"/>
                </a:solidFill>
                <a:latin typeface="Georgia"/>
              </a:rPr>
              <a:t>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4612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211A"/>
                </a:solidFill>
                <a:latin typeface="Helvetica Neue"/>
              </a:rPr>
              <a:t>Nothing missed.
Every document is read, every claim is cited, every risk is flagged.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651760"/>
            <a:ext cx="32918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2651760"/>
            <a:ext cx="3291840" cy="50292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697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84B"/>
                </a:solidFill>
                <a:latin typeface="Georgia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24612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211A"/>
                </a:solidFill>
                <a:latin typeface="Helvetica Neue"/>
              </a:rPr>
              <a:t>Enterprise-grade.
Role-based access, approval workflow, watermarking, and full audit trail.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The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5E3A"/>
                </a:solidFill>
                <a:latin typeface="Georgia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52044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F9C"/>
                </a:solidFill>
                <a:latin typeface="Helvetica Neue"/>
              </a:rPr>
              <a:t>Three AI agents, one governed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664208" cy="310896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211A"/>
                </a:solidFill>
                <a:latin typeface="Helvetica Neue"/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84B"/>
                </a:solidFill>
                <a:latin typeface="Georgia"/>
              </a:rPr>
              <a:t>Document
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14813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AF9F5"/>
                </a:solidFill>
                <a:latin typeface="Helvetica Neue"/>
              </a:rPr>
              <a:t>PDF · DOCX · XLSX
Drag-and-drop into
your Deal 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1089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4A84B"/>
                </a:solidFill>
                <a:latin typeface="Helvetica Neue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828800"/>
            <a:ext cx="1664208" cy="3108960"/>
          </a:xfrm>
          <a:prstGeom prst="rect">
            <a:avLst/>
          </a:prstGeom>
          <a:solidFill>
            <a:srgbClr val="0D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22576" y="1965960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211A"/>
                </a:solidFill>
                <a:latin typeface="Helvetica Neue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2576" y="2514600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84B"/>
                </a:solidFill>
                <a:latin typeface="Georgia"/>
              </a:rPr>
              <a:t>Ingestion
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4016" y="3154680"/>
            <a:ext cx="14813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AF9F5"/>
                </a:solidFill>
                <a:latin typeface="Helvetica Neue"/>
              </a:rPr>
              <a:t>Parse · Chunk · Embed
Stored in pgvector
for semantic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6" y="31089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4A84B"/>
                </a:solidFill>
                <a:latin typeface="Helvetica Neue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952" y="1828800"/>
            <a:ext cx="1664208" cy="310896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1965960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211A"/>
                </a:solidFill>
                <a:latin typeface="Helvetica Neue"/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2514600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84B"/>
                </a:solidFill>
                <a:latin typeface="Georgia"/>
              </a:rPr>
              <a:t>Research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3154680"/>
            <a:ext cx="14813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AF9F5"/>
                </a:solidFill>
                <a:latin typeface="Helvetica Neue"/>
              </a:rPr>
              <a:t>Web · Financial data
News sentiment
SEC filings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31089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4A84B"/>
                </a:solidFill>
                <a:latin typeface="Helvetica Neue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3328" y="1828800"/>
            <a:ext cx="1664208" cy="3108960"/>
          </a:xfrm>
          <a:prstGeom prst="rect">
            <a:avLst/>
          </a:prstGeom>
          <a:solidFill>
            <a:srgbClr val="0D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965960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211A"/>
                </a:solidFill>
                <a:latin typeface="Helvetica Neue"/>
              </a:rP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2514600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84B"/>
                </a:solidFill>
                <a:latin typeface="Georgia"/>
              </a:rPr>
              <a:t>Synthesis
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154680"/>
            <a:ext cx="14813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AF9F5"/>
                </a:solidFill>
                <a:latin typeface="Helvetica Neue"/>
              </a:rPr>
              <a:t>Hybrid RAG retrieval
GPT-4o report
All claims cited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31089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4A84B"/>
                </a:solidFill>
                <a:latin typeface="Helvetica Neue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18704" y="1828800"/>
            <a:ext cx="1664208" cy="310896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1965960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211A"/>
                </a:solidFill>
                <a:latin typeface="Helvetica Neue"/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8704" y="2514600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84B"/>
                </a:solidFill>
                <a:latin typeface="Georgia"/>
              </a:rPr>
              <a:t>ML Risk
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3154680"/>
            <a:ext cx="14813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AF9F5"/>
                </a:solidFill>
                <a:latin typeface="Helvetica Neue"/>
              </a:rPr>
              <a:t>XGBoost classifier
4-tier risk + SHAP
explanations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0344" y="31089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4A84B"/>
                </a:solidFill>
                <a:latin typeface="Helvetica Neue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1828800"/>
            <a:ext cx="1664208" cy="3108960"/>
          </a:xfrm>
          <a:prstGeom prst="rect">
            <a:avLst/>
          </a:prstGeom>
          <a:solidFill>
            <a:srgbClr val="0D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965960"/>
            <a:ext cx="1664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211A"/>
                </a:solidFill>
                <a:latin typeface="Helvetica Neue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514600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84B"/>
                </a:solidFill>
                <a:latin typeface="Georgia"/>
              </a:rPr>
              <a:t>Structured
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154680"/>
            <a:ext cx="14813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AF9F5"/>
                </a:solidFill>
                <a:latin typeface="Helvetica Neue"/>
              </a:rPr>
              <a:t>6-section brief
Approval workflow
Audit-ready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66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8AF9C"/>
                </a:solidFill>
                <a:latin typeface="Helvetica Neue"/>
              </a:rPr>
              <a:t>All agents are traced end-to-end via LangSmith · Redis caches research &amp; ML inference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Architecture — How It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5E3A"/>
                </a:solidFill>
                <a:latin typeface="Georgia"/>
              </a:rPr>
              <a:t>Agent 1 — Document Ingestion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52044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F9C"/>
                </a:solidFill>
                <a:latin typeface="Helvetica Neue"/>
              </a:rPr>
              <a:t>Turning raw files into searchable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Helvetica Neue"/>
              </a:rPr>
              <a:t>What it does: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550">
                <a:solidFill>
                  <a:srgbClr val="14211A"/>
                </a:solidFill>
                <a:latin typeface="Helvetica Neue"/>
              </a:rPr>
              <a:t>Parses PDF, DOCX, and XLSX files with pdfplumber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550">
                <a:solidFill>
                  <a:srgbClr val="14211A"/>
                </a:solidFill>
                <a:latin typeface="Helvetica Neue"/>
              </a:rPr>
              <a:t>Classifies each document (financial statement, legal contract, market report…) via GPT-4o-mini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550">
                <a:solidFill>
                  <a:srgbClr val="14211A"/>
                </a:solidFill>
                <a:latin typeface="Helvetica Neue"/>
              </a:rPr>
              <a:t>Prose chunks: 512-token sliding window with 64-token overlap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550">
                <a:solidFill>
                  <a:srgbClr val="14211A"/>
                </a:solidFill>
                <a:latin typeface="Helvetica Neue"/>
              </a:rPr>
              <a:t>Tables extracted separately — each table is one atomic chunk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550">
                <a:solidFill>
                  <a:srgbClr val="14211A"/>
                </a:solidFill>
                <a:latin typeface="Helvetica Neue"/>
              </a:rPr>
              <a:t>Batch-embeds with OpenAI text-embedding-3-small (1 536 dims)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550">
                <a:solidFill>
                  <a:srgbClr val="14211A"/>
                </a:solidFill>
                <a:latin typeface="Helvetica Neue"/>
              </a:rPr>
              <a:t>Inserts into PostgreSQL with pgvector extension for semantic 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029200" cy="475488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Helvetica Neue"/>
              </a:rPr>
              <a:t>Key technical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3D26"/>
                </a:solidFill>
                <a:latin typeface="Helvetica Neue"/>
              </a:rPr>
              <a:t>▸ Tables ≠ Prose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4884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1A"/>
                </a:solidFill>
                <a:latin typeface="Helvetica Neue"/>
              </a:rPr>
              <a:t>Tables are kept as single chunks so the model receives complete rows — splitting them breaks financial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529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3D26"/>
                </a:solidFill>
                <a:latin typeface="Helvetica Neue"/>
              </a:rPr>
              <a:t>▸ Async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172968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1A"/>
                </a:solidFill>
                <a:latin typeface="Helvetica Neue"/>
              </a:rPr>
              <a:t>Runs as a FastAPI BackgroundTask on upload — user gets instant confirmation, ingestion continues silently.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770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3D26"/>
                </a:solidFill>
                <a:latin typeface="Helvetica Neue"/>
              </a:rPr>
              <a:t>▸ Batch 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197096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1A"/>
                </a:solidFill>
                <a:latin typeface="Helvetica Neue"/>
              </a:rPr>
              <a:t>100 chunks per API call — minimises OpenAI latency and cost vs. one call per chunk.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90118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3D26"/>
                </a:solidFill>
                <a:latin typeface="Helvetica Neue"/>
              </a:rPr>
              <a:t>▸ pgvector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221224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11A"/>
                </a:solidFill>
                <a:latin typeface="Helvetica Neue"/>
              </a:rPr>
              <a:t>Vector search lives in the same Postgres instance as all other data — no separate vector DB to operate.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Agent 1 — Document Ingestion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5E3A"/>
                </a:solidFill>
                <a:latin typeface="Georgia"/>
              </a:rPr>
              <a:t>Agent 2 — Research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52044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F9C"/>
                </a:solidFill>
                <a:latin typeface="Helvetica Neue"/>
              </a:rPr>
              <a:t>Autonomous analyst that goes beyond the data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AF9C"/>
                </a:solidFill>
                <a:latin typeface="Helvetica Neue"/>
              </a:rPr>
              <a:t>The problem with only reading uploaded documents: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E3A"/>
                </a:solidFill>
                <a:latin typeface="Georgia"/>
              </a:rPr>
              <a:t>Companies don't upload bad news about themselves.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5029200" cy="347472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D26"/>
                </a:solidFill>
                <a:latin typeface="Helvetica Neue"/>
              </a:rPr>
              <a:t>LangGraph ReAct 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280160" cy="54864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84B"/>
                </a:solidFill>
                <a:latin typeface="Helvetica Neue"/>
              </a:rPr>
              <a:t>reason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8620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LLM decides what to research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3558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A84B"/>
                </a:solidFill>
                <a:latin typeface="Helvetica Neue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11880"/>
            <a:ext cx="1280160" cy="54864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84B"/>
                </a:solidFill>
                <a:latin typeface="Helvetica Neue"/>
              </a:rP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6850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Executes one tool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788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A84B"/>
                </a:solidFill>
                <a:latin typeface="Helvetica Neue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434840"/>
            <a:ext cx="1280160" cy="54864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348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84B"/>
                </a:solidFill>
                <a:latin typeface="Helvetica Neue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5079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Checks if coverage is sufficient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21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84B"/>
                </a:solidFill>
                <a:latin typeface="Helvetica Neue"/>
              </a:rPr>
              <a:t>↺  Loop until sufficient OR 12 tool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240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Helvetica Neue"/>
              </a:rPr>
              <a:t>Research tools available: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697480"/>
            <a:ext cx="557784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B8A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D26"/>
                </a:solidFill>
                <a:latin typeface="Helvetica Neue"/>
              </a:rPr>
              <a:t>🔎  Web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0175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AF9C"/>
                </a:solidFill>
                <a:latin typeface="Helvetica Neue"/>
              </a:rPr>
              <a:t>Recent news, controversies, press releases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374136"/>
            <a:ext cx="557784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B8A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D26"/>
                </a:solidFill>
                <a:latin typeface="Helvetica Neue"/>
              </a:rPr>
              <a:t>💰  Financial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6941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AF9C"/>
                </a:solidFill>
                <a:latin typeface="Helvetica Neue"/>
              </a:rPr>
              <a:t>Market cap, P/E, EBITDA margin, revenue growth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4050792"/>
            <a:ext cx="557784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B8A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D26"/>
                </a:solidFill>
                <a:latin typeface="Helvetica Neue"/>
              </a:rPr>
              <a:t>📰  News sentiment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3708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AF9C"/>
                </a:solidFill>
                <a:latin typeface="Helvetica Neue"/>
              </a:rPr>
              <a:t>90-day headlines with sentiment scoring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727448"/>
            <a:ext cx="557784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B8A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D26"/>
                </a:solidFill>
                <a:latin typeface="Helvetica Neue"/>
              </a:rPr>
              <a:t>🏢  Competitor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047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AF9C"/>
                </a:solidFill>
                <a:latin typeface="Helvetica Neue"/>
              </a:rPr>
              <a:t>Market share, competitive position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5404104"/>
            <a:ext cx="557784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B8A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5449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D26"/>
                </a:solidFill>
                <a:latin typeface="Helvetica Neue"/>
              </a:rPr>
              <a:t>🗂️  SEC EDGAR filings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57241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AF9C"/>
                </a:solidFill>
                <a:latin typeface="Helvetica Neue"/>
              </a:rPr>
              <a:t>10-K, 10-Q, 8-K regulatory filings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Agent 2 — Research Agent (LangGraph ReAct)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5E3A"/>
                </a:solidFill>
                <a:latin typeface="Georgia"/>
              </a:rPr>
              <a:t>Agent 3 — Synthesis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52044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F9C"/>
                </a:solidFill>
                <a:latin typeface="Helvetica Neue"/>
              </a:rPr>
              <a:t>From knowledge to structured due diligence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Helvetica Neue"/>
              </a:rPr>
              <a:t>Hybrid Retrieval (RAG)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211A"/>
                </a:solidFill>
                <a:latin typeface="Helvetica Neue"/>
              </a:rPr>
              <a:t>Semantic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031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AF9C"/>
                </a:solidFill>
                <a:latin typeface="Helvetica Neue"/>
              </a:rPr>
              <a:t>pgvector cosine similarity — finds conceptually related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33472"/>
            <a:ext cx="411480" cy="41148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6334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211A"/>
                </a:solidFill>
                <a:latin typeface="Helvetica Neue"/>
              </a:rPr>
              <a:t>BM25 keyword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0779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AF9C"/>
                </a:solidFill>
                <a:latin typeface="Helvetica Neue"/>
              </a:rPr>
              <a:t>pg_trgm + BM25 — finds exact terminology matches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381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211A"/>
                </a:solidFill>
                <a:latin typeface="Helvetica Neue"/>
              </a:rPr>
              <a:t>Reciprocal Rank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1246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AF9C"/>
                </a:solidFill>
                <a:latin typeface="Helvetica Neue"/>
              </a:rPr>
              <a:t>Merges both ranked lists into one optimal top-15 result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42816"/>
            <a:ext cx="411480" cy="41148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24281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211A"/>
                </a:solidFill>
                <a:latin typeface="Helvetica Neue"/>
              </a:rPr>
              <a:t>Per-section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51713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AF9C"/>
                </a:solidFill>
                <a:latin typeface="Helvetica Neue"/>
              </a:rPr>
              <a:t>6 sections each get their own targeted retrieval query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5303520" cy="484632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84B"/>
                </a:solidFill>
                <a:latin typeface="Georgia"/>
              </a:rPr>
              <a:t>Report Structure (GPT-4o)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745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AF9F5"/>
                </a:solidFill>
                <a:latin typeface="Helvetica Neue"/>
              </a:rPr>
              <a:t>1.  Executive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774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AF9F5"/>
                </a:solidFill>
                <a:latin typeface="Helvetica Neue"/>
              </a:rPr>
              <a:t>2.  Financial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803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AF9F5"/>
                </a:solidFill>
                <a:latin typeface="Helvetica Neue"/>
              </a:rPr>
              <a:t>3.  Legal Flags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832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AF9F5"/>
                </a:solidFill>
                <a:latin typeface="Helvetica Neue"/>
              </a:rPr>
              <a:t>4.  Commercial 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8619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AF9F5"/>
                </a:solidFill>
                <a:latin typeface="Helvetica Neue"/>
              </a:rPr>
              <a:t>5.  Red Flags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891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AF9F5"/>
                </a:solidFill>
                <a:latin typeface="Helvetica Neue"/>
              </a:rPr>
              <a:t>6.  Key Questions for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983480"/>
            <a:ext cx="5303520" cy="658368"/>
          </a:xfrm>
          <a:prstGeom prst="rect">
            <a:avLst/>
          </a:prstGeom>
          <a:solidFill>
            <a:srgbClr val="0D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0474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84B"/>
                </a:solidFill>
                <a:latin typeface="Helvetica Neue"/>
              </a:rPr>
              <a:t>★  Every claim must cite its source: [filename.pdf, p.12]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E3A"/>
                </a:solidFill>
                <a:latin typeface="Helvetica Neue"/>
              </a:rPr>
              <a:t>Bonus: Management Q&amp;A Generator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6811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211A"/>
                </a:solidFill>
                <a:latin typeface="Helvetica Neue"/>
              </a:rPr>
              <a:t>A single focused GPT-4o call turns red flags and financial findings into sharp, traceable management interview questions — grouped by priority (critical / high / medium).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Agent 3 — Synthesis Agent (RAG + GPT-4o)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5E3A"/>
                </a:solidFill>
                <a:latin typeface="Georgia"/>
              </a:rPr>
              <a:t>ML Financial Risk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52044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F9C"/>
                </a:solidFill>
                <a:latin typeface="Helvetica Neue"/>
              </a:rPr>
              <a:t>Quantitative signal to complement qualitative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1">
                <a:solidFill>
                  <a:srgbClr val="14211A"/>
                </a:solidFill>
                <a:latin typeface="Helvetica Neue"/>
              </a:rPr>
              <a:t>Before an acquisition, analysts need a number — not just a narrative. Our XGBoost model takes 8 financial ratios and outputs a risk tier with an explanation.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514600" cy="1188720"/>
          </a:xfrm>
          <a:prstGeom prst="rect">
            <a:avLst/>
          </a:prstGeom>
          <a:solidFill>
            <a:srgbClr val="16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 Neue"/>
              </a:rPr>
              <a:t>Healthy financials
no near-term stress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2148840"/>
            <a:ext cx="2514600" cy="1188720"/>
          </a:xfrm>
          <a:prstGeom prst="rect">
            <a:avLst/>
          </a:prstGeom>
          <a:solidFill>
            <a:srgbClr val="C4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2240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7889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 Neue"/>
              </a:rPr>
              <a:t>Stable but
worth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7024" y="2148840"/>
            <a:ext cx="2514600" cy="1188720"/>
          </a:xfrm>
          <a:prstGeom prst="rect">
            <a:avLst/>
          </a:prstGeom>
          <a:solidFill>
            <a:srgbClr val="C4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024" y="2240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27889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 Neue"/>
              </a:rPr>
              <a:t>Elevated risk —
early distress signals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0496" y="2148840"/>
            <a:ext cx="2514600" cy="1188720"/>
          </a:xfrm>
          <a:prstGeom prst="rect">
            <a:avLst/>
          </a:prstGeom>
          <a:solidFill>
            <a:srgbClr val="B0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2240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7889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 Neue"/>
              </a:rPr>
              <a:t>High likelihood of
financial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Helvetica Neue"/>
              </a:rPr>
              <a:t>Input: 8 financial ratios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00">
                <a:solidFill>
                  <a:srgbClr val="14211A"/>
                </a:solidFill>
                <a:latin typeface="Helvetica Neue"/>
              </a:rPr>
              <a:t>Current Ratio — can it pay its bills?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00">
                <a:solidFill>
                  <a:srgbClr val="14211A"/>
                </a:solidFill>
                <a:latin typeface="Helvetica Neue"/>
              </a:rPr>
              <a:t>Debt-to-Equity — how leveraged is it?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00">
                <a:solidFill>
                  <a:srgbClr val="14211A"/>
                </a:solidFill>
                <a:latin typeface="Helvetica Neue"/>
              </a:rPr>
              <a:t>Interest Coverage — can it service its debt?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00">
                <a:solidFill>
                  <a:srgbClr val="14211A"/>
                </a:solidFill>
                <a:latin typeface="Helvetica Neue"/>
              </a:rPr>
              <a:t>EBITDA Margin — is the core business profitable?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00">
                <a:solidFill>
                  <a:srgbClr val="14211A"/>
                </a:solidFill>
                <a:latin typeface="Helvetica Neue"/>
              </a:rPr>
              <a:t>Revenue Growth YoY — growing or shrinking?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00">
                <a:solidFill>
                  <a:srgbClr val="14211A"/>
                </a:solidFill>
                <a:latin typeface="Helvetica Neue"/>
              </a:rPr>
              <a:t>Cash Burn Rate — how fast is it consuming cash?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00">
                <a:solidFill>
                  <a:srgbClr val="14211A"/>
                </a:solidFill>
                <a:latin typeface="Helvetica Neue"/>
              </a:rPr>
              <a:t>Working Capital Ratio — operational buffer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00">
                <a:solidFill>
                  <a:srgbClr val="14211A"/>
                </a:solidFill>
                <a:latin typeface="Helvetica Neue"/>
              </a:rPr>
              <a:t>Gross Margin — pricing power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429000"/>
            <a:ext cx="5303520" cy="242316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Helvetica Neue"/>
              </a:rPr>
              <a:t>SHAP Explainability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The model tells you WHY:
"Scored HIGH-RISK because:
  ▸ EBITDA margin is negative  ↑ risk
  ▸ Debt-to-equity is very high  ↑ risk
  ▸ Current ratio is adequate  ↓ risk"
Every prediction is auditable — no black box.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ML Risk Classifier — XGBoost + SHAP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5E3A"/>
                </a:solidFill>
                <a:latin typeface="Georgia"/>
              </a:rPr>
              <a:t>Training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52044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F9C"/>
                </a:solidFill>
                <a:latin typeface="Helvetica Neue"/>
              </a:rPr>
              <a:t>UCI Polish Bankruptcy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514600" cy="13716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84B"/>
                </a:solidFill>
                <a:latin typeface="Georgia"/>
              </a:rPr>
              <a:t>40,000+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9F5"/>
                </a:solidFill>
                <a:latin typeface="Helvetica Neue"/>
              </a:rPr>
              <a:t>Annual financial statements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14600" cy="13716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63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84B"/>
                </a:solidFill>
                <a:latin typeface="Georgia"/>
              </a:rPr>
              <a:t>7,000+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031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9F5"/>
                </a:solidFill>
                <a:latin typeface="Helvetica Neue"/>
              </a:rPr>
              <a:t>Companies 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371600"/>
            <a:ext cx="2514600" cy="13716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463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84B"/>
                </a:solidFill>
                <a:latin typeface="Georg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1031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9F5"/>
                </a:solidFill>
                <a:latin typeface="Helvetica Neue"/>
              </a:rPr>
              <a:t>Temporal slices (years)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371600"/>
            <a:ext cx="2514600" cy="13716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463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84B"/>
                </a:solidFill>
                <a:latin typeface="Georgia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031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9F5"/>
                </a:solidFill>
                <a:latin typeface="Helvetica Neue"/>
              </a:rPr>
              <a:t>Financial ratios per company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26080"/>
            <a:ext cx="10607040" cy="91440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03580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4211A"/>
                </a:solidFill>
                <a:latin typeface="Helvetica Neue"/>
              </a:rPr>
              <a:t>Source:  Emerging Markets Information Service (EMIS), 2000–2012  ·  Published via UCI Machine Learning Repository (2016)
Format: ARFF files (64 financial ratios per company) — we extract the 8 most predictive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050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Helvetica Neue"/>
              </a:rPr>
              <a:t>Label engineering — creating 4 risk classes from 2 raw signals: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62272"/>
            <a:ext cx="1508760" cy="384048"/>
          </a:xfrm>
          <a:prstGeom prst="rect">
            <a:avLst/>
          </a:prstGeom>
          <a:solidFill>
            <a:srgbClr val="16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480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LOW (0)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49884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Bankrupt = No, observed 4–5 years out  →  Financially healthy, no near-term stress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19472"/>
            <a:ext cx="1508760" cy="384048"/>
          </a:xfrm>
          <a:prstGeom prst="rect">
            <a:avLst/>
          </a:prstGeom>
          <a:solidFill>
            <a:srgbClr val="C4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9377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MEDIUM (1)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95604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Bankrupt = No, observed 2–3 years out  →  Stable but worth monitoring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76672"/>
            <a:ext cx="1508760" cy="384048"/>
          </a:xfrm>
          <a:prstGeom prst="rect">
            <a:avLst/>
          </a:prstGeom>
          <a:solidFill>
            <a:srgbClr val="C4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394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HIGH (2)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41324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Bankrupt = No (year 1) OR Bankrupt = Yes (year 4–5)  →  Early distress signals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33872"/>
            <a:ext cx="1508760" cy="384048"/>
          </a:xfrm>
          <a:prstGeom prst="rect">
            <a:avLst/>
          </a:prstGeom>
          <a:solidFill>
            <a:srgbClr val="B0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852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CRITICAL (3)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87044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Bankrupt = Yes, observed 1–3 years out  →  Imminent financial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09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B8AF9C"/>
                </a:solidFill>
                <a:latin typeface="Helvetica Neue"/>
              </a:rPr>
              <a:t>Achieved Macro F1: 0.55  ·  Model catches ~46% of genuinely critical companies (treated as a first-pass filter, not a final verdict)  ·  Top SHAP drivers: EBITDA margin · Interest coverage · Revenue growth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Training Data — UCI Polish Bankruptcy Dataset · EMIS 2000–2012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5E3A"/>
                </a:solidFill>
                <a:latin typeface="Georgia"/>
              </a:rPr>
              <a:t>The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52044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F9C"/>
                </a:solidFill>
                <a:latin typeface="Helvetica Neue"/>
              </a:rPr>
              <a:t>Enterprise-grade SaaS for consulting firms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Helvetica Neue"/>
              </a:rPr>
              <a:t>Core Platform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50">
                <a:solidFill>
                  <a:srgbClr val="14211A"/>
                </a:solidFill>
                <a:latin typeface="Helvetica Neue"/>
              </a:rPr>
              <a:t>Multi-tenant — every consulting firm gets a completely isolated workspace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50">
                <a:solidFill>
                  <a:srgbClr val="14211A"/>
                </a:solidFill>
                <a:latin typeface="Helvetica Neue"/>
              </a:rPr>
              <a:t>Deal Rooms — dedicated workspace per acquisition target with explicit member invitations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50">
                <a:solidFill>
                  <a:srgbClr val="14211A"/>
                </a:solidFill>
                <a:latin typeface="Helvetica Neue"/>
              </a:rPr>
              <a:t>Role-based access — Admin vs. Analyst with different permissions per deal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50">
                <a:solidFill>
                  <a:srgbClr val="14211A"/>
                </a:solidFill>
                <a:latin typeface="Helvetica Neue"/>
              </a:rPr>
              <a:t>Document permissions — per-document access control list on top of deal room membership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50">
                <a:solidFill>
                  <a:srgbClr val="14211A"/>
                </a:solidFill>
                <a:latin typeface="Helvetica Neue"/>
              </a:rPr>
              <a:t>Approval workflow — Draft → In Review → Approved (signed by senior analyst)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50">
                <a:solidFill>
                  <a:srgbClr val="14211A"/>
                </a:solidFill>
                <a:latin typeface="Helvetica Neue"/>
              </a:rPr>
              <a:t>Annotation system — inline comments, dispute flags, and resolution threads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50">
                <a:solidFill>
                  <a:srgbClr val="14211A"/>
                </a:solidFill>
                <a:latin typeface="Helvetica Neue"/>
              </a:rPr>
              <a:t>Management Q&amp;A — auto-generated interview questions from red flags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50">
                <a:solidFill>
                  <a:srgbClr val="14211A"/>
                </a:solidFill>
                <a:latin typeface="Helvetica Neue"/>
              </a:rPr>
              <a:t>Watermarked exports — every downloaded document is stamped with analyst identity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50">
                <a:solidFill>
                  <a:srgbClr val="14211A"/>
                </a:solidFill>
                <a:latin typeface="Helvetica Neue"/>
              </a:rPr>
              <a:t>Append-only audit trail — every action logged with timestamp, actor, and payload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D4A84B"/>
                </a:solidFill>
                <a:latin typeface="Helvetica Neue"/>
              </a:rPr>
              <a:t>▸  </a:t>
            </a:r>
            <a:r>
              <a:rPr sz="1350">
                <a:solidFill>
                  <a:srgbClr val="14211A"/>
                </a:solidFill>
                <a:latin typeface="Helvetica Neue"/>
              </a:rPr>
              <a:t>Email notifications — async SMTP dispatch on report events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120640" cy="493776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E3A"/>
                </a:solidFill>
                <a:latin typeface="Helvetica Neue"/>
              </a:rPr>
              <a:t>Report Lifecycle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874519"/>
            <a:ext cx="1828800" cy="109728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3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011679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AI generates report
analyst reviews &amp; edits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99008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E3A"/>
                </a:solidFill>
                <a:latin typeface="Helvetica Neue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3319271"/>
            <a:ext cx="1828800" cy="109728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502151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IN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456431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Submitted by analyst
senior reviews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43483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E3A"/>
                </a:solidFill>
                <a:latin typeface="Helvetica Neue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764023"/>
            <a:ext cx="1828800" cy="109728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946903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</a:rPr>
              <a:t>APPROVED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901183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Signed off by senior
Export unlocked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010912"/>
            <a:ext cx="5120640" cy="594360"/>
          </a:xfrm>
          <a:prstGeom prst="rect">
            <a:avLst/>
          </a:prstGeom>
          <a:solidFill>
            <a:srgbClr val="0D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065776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9F5"/>
                </a:solidFill>
                <a:latin typeface="Helvetica Neue"/>
              </a:rPr>
              <a:t>Documents stored in MinIO (S3-compatible)
PostgreSQL + pgvector for all structured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Platform — Multi-Tenant SaaS with Governed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5E3A"/>
                </a:solidFill>
                <a:latin typeface="Georgia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52044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F9C"/>
                </a:solidFill>
                <a:latin typeface="Helvetica Neue"/>
              </a:rPr>
              <a:t>Production-grade, cloud-ready, open-source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56616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B8A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566160" cy="420624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84B"/>
                </a:solidFill>
                <a:latin typeface="Georgia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1965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React 18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0370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Tailwind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87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React Router v6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9718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Zustand (auth state)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325880"/>
            <a:ext cx="356616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B8A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325880"/>
            <a:ext cx="3566160" cy="420624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3807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84B"/>
                </a:solidFill>
                <a:latin typeface="Georgia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81965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FastAPI (Python 3.12)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20370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SQLAlchemy (async)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587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Alembic migrations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9718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JWT + bcrypt 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325880"/>
            <a:ext cx="356616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B8A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325880"/>
            <a:ext cx="3566160" cy="420624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3807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84B"/>
                </a:solidFill>
                <a:latin typeface="Georgia"/>
              </a:rPr>
              <a:t>AI /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181965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LangGraph (agent graphs)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20370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LangChain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2587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GPT-4o (synthesis)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29718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GPT-4o-mini (classify)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39312"/>
            <a:ext cx="356616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B8A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639312"/>
            <a:ext cx="3566160" cy="420624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941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84B"/>
                </a:solidFill>
                <a:latin typeface="Georgia"/>
              </a:rPr>
              <a:t>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413308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scikit-learn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451713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XGBoost classifier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49011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SHAP explainability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528523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Macro F1: 0.55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3639312"/>
            <a:ext cx="356616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B8A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3639312"/>
            <a:ext cx="3566160" cy="420624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6941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84B"/>
                </a:solidFill>
                <a:latin typeface="Georgia"/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413308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PostgreSQL 16 + pgvector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451713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OpenAI embeddings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49011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BM25 + RRF retrieval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2" y="528523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pdfplumber parsing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3639312"/>
            <a:ext cx="356616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B8A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01000" y="3639312"/>
            <a:ext cx="3566160" cy="420624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6941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84B"/>
                </a:solidFill>
                <a:latin typeface="Georgia"/>
              </a:rPr>
              <a:t>Infra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5592" y="413308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Docker + Docker Compose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451713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Redis + ARQ workers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5592" y="49011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MinIO object storage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5592" y="528523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▸  GitHub Actions CI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Technology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5E3A"/>
                </a:solidFill>
                <a:latin typeface="Georgia"/>
              </a:rPr>
              <a:t>Why DealRoom AI?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352044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AF9C"/>
                </a:solidFill>
                <a:latin typeface="Helvetica Neue"/>
              </a:rPr>
              <a:t>Built for how M&amp;A due diligence actually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20440" cy="219456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520440" cy="438912"/>
          </a:xfrm>
          <a:prstGeom prst="rect">
            <a:avLst/>
          </a:prstGeom>
          <a:solidFill>
            <a:srgbClr val="0D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813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84B"/>
                </a:solidFill>
                <a:latin typeface="Helvetica Neue"/>
              </a:rPr>
              <a:t>⚡ 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9659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E3A"/>
                </a:solidFill>
                <a:latin typeface="Georgia"/>
              </a:rPr>
              <a:t>Hours to a full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33172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vs. 6–12 weeks of manual analysis.
Firms can review more deals with the same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17320"/>
            <a:ext cx="3520440" cy="219456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417320"/>
            <a:ext cx="3520440" cy="438912"/>
          </a:xfrm>
          <a:prstGeom prst="rect">
            <a:avLst/>
          </a:prstGeom>
          <a:solidFill>
            <a:srgbClr val="0D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4813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84B"/>
                </a:solidFill>
                <a:latin typeface="Helvetica Neue"/>
              </a:rPr>
              <a:t>📌  Traceability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9659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E3A"/>
                </a:solidFill>
                <a:latin typeface="Georgia"/>
              </a:rPr>
              <a:t>Every claim is cited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33172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No AI hallucination goes undetected — every sentence links back to its source page and chunk.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417320"/>
            <a:ext cx="3520440" cy="219456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1417320"/>
            <a:ext cx="3520440" cy="438912"/>
          </a:xfrm>
          <a:prstGeom prst="rect">
            <a:avLst/>
          </a:prstGeom>
          <a:solidFill>
            <a:srgbClr val="0D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14813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84B"/>
                </a:solidFill>
                <a:latin typeface="Helvetica Neue"/>
              </a:rPr>
              <a:t>🔒 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19659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E3A"/>
                </a:solidFill>
                <a:latin typeface="Georgia"/>
              </a:rPr>
              <a:t>Enterprise 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233172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Per-deal membership, per-document ACLs, watermarked exports, and an append-only audit trail.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76472"/>
            <a:ext cx="3520440" cy="219456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76472"/>
            <a:ext cx="3520440" cy="438912"/>
          </a:xfrm>
          <a:prstGeom prst="rect">
            <a:avLst/>
          </a:prstGeom>
          <a:solidFill>
            <a:srgbClr val="0D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8404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84B"/>
                </a:solidFill>
                <a:latin typeface="Helvetica Neue"/>
              </a:rPr>
              <a:t>🤖  Explainable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3251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E3A"/>
                </a:solidFill>
                <a:latin typeface="Georgia"/>
              </a:rPr>
              <a:t>Not a black 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690872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SHAP values explain exactly which financial ratios drove the risk score — auditable by regulators.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776472"/>
            <a:ext cx="3520440" cy="219456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776472"/>
            <a:ext cx="3520440" cy="438912"/>
          </a:xfrm>
          <a:prstGeom prst="rect">
            <a:avLst/>
          </a:prstGeom>
          <a:solidFill>
            <a:srgbClr val="0D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38404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84B"/>
                </a:solidFill>
                <a:latin typeface="Helvetica Neue"/>
              </a:rPr>
              <a:t>🏗️  Production-ready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3251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E3A"/>
                </a:solidFill>
                <a:latin typeface="Georgia"/>
              </a:rPr>
              <a:t>Built to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4690872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Async worker queue, Redis caching, Docker Compose deployment, CI/CD with automated ML gating.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3776472"/>
            <a:ext cx="3520440" cy="219456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9560" y="3776472"/>
            <a:ext cx="3520440" cy="438912"/>
          </a:xfrm>
          <a:prstGeom prst="rect">
            <a:avLst/>
          </a:prstGeom>
          <a:solidFill>
            <a:srgbClr val="0D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9288" y="38404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84B"/>
                </a:solidFill>
                <a:latin typeface="Helvetica Neue"/>
              </a:rPr>
              <a:t>🎯  Analyst-in-the-loop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43251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E3A"/>
                </a:solidFill>
                <a:latin typeface="Georgia"/>
              </a:rPr>
              <a:t>AI assists, humans 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4690872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211A"/>
                </a:solidFill>
                <a:latin typeface="Helvetica Neue"/>
              </a:rPr>
              <a:t>Annotation threads, dispute flags, and the approval workflow ensure a human signs off every report.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47395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9F5"/>
                </a:solidFill>
                <a:latin typeface="Helvetica Neue"/>
              </a:rPr>
              <a:t>Differentiators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D4A84B"/>
                </a:solidFill>
                <a:latin typeface="Georgia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657600"/>
            <a:ext cx="640080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9319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700">
                <a:solidFill>
                  <a:srgbClr val="FAF9F5"/>
                </a:solidFill>
                <a:latin typeface="Helvetica Neue"/>
              </a:rPr>
              <a:t>1.  Create a Deal Room and invite members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700">
                <a:solidFill>
                  <a:srgbClr val="FAF9F5"/>
                </a:solidFill>
                <a:latin typeface="Helvetica Neue"/>
              </a:rPr>
              <a:t>2.  Upload documents — watch ingestion in real time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700">
                <a:solidFill>
                  <a:srgbClr val="FAF9F5"/>
                </a:solidFill>
                <a:latin typeface="Helvetica Neue"/>
              </a:rPr>
              <a:t>3.  Trigger analysis — all three agents run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700">
                <a:solidFill>
                  <a:srgbClr val="FAF9F5"/>
                </a:solidFill>
                <a:latin typeface="Helvetica Neue"/>
              </a:rPr>
              <a:t>4.  Review the structured report with citations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700">
                <a:solidFill>
                  <a:srgbClr val="FAF9F5"/>
                </a:solidFill>
                <a:latin typeface="Helvetica Neue"/>
              </a:rPr>
              <a:t>5.  See the ML risk score and SHAP factors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D4A84B"/>
                </a:solidFill>
                <a:latin typeface="Helvetica Neue"/>
              </a:rPr>
              <a:t>▸  </a:t>
            </a:r>
            <a:r>
              <a:rPr sz="1700">
                <a:solidFill>
                  <a:srgbClr val="FAF9F5"/>
                </a:solidFill>
                <a:latin typeface="Helvetica Neue"/>
              </a:rPr>
              <a:t>6.  Add annotations, submit for approval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72" y="109728"/>
            <a:ext cx="950976" cy="3803904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109728"/>
            <a:ext cx="950976" cy="3803904"/>
          </a:xfrm>
          <a:prstGeom prst="rect">
            <a:avLst/>
          </a:prstGeom>
          <a:solidFill>
            <a:srgbClr val="1A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8267" y="870508"/>
            <a:ext cx="570585" cy="104607"/>
          </a:xfrm>
          <a:prstGeom prst="rect">
            <a:avLst/>
          </a:prstGeom>
          <a:solidFill>
            <a:srgbClr val="B8A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8267" y="1365016"/>
            <a:ext cx="570585" cy="104607"/>
          </a:xfrm>
          <a:prstGeom prst="rect">
            <a:avLst/>
          </a:prstGeom>
          <a:solidFill>
            <a:srgbClr val="B8A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8267" y="1859523"/>
            <a:ext cx="570585" cy="104607"/>
          </a:xfrm>
          <a:prstGeom prst="rect">
            <a:avLst/>
          </a:prstGeom>
          <a:solidFill>
            <a:srgbClr val="B8A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8267" y="2354031"/>
            <a:ext cx="570585" cy="104607"/>
          </a:xfrm>
          <a:prstGeom prst="rect">
            <a:avLst/>
          </a:prstGeom>
          <a:solidFill>
            <a:srgbClr val="B8A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8267" y="2848538"/>
            <a:ext cx="570585" cy="104607"/>
          </a:xfrm>
          <a:prstGeom prst="rect">
            <a:avLst/>
          </a:prstGeom>
          <a:solidFill>
            <a:srgbClr val="B8A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9243" y="870508"/>
            <a:ext cx="570585" cy="10460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9243" y="1365016"/>
            <a:ext cx="502115" cy="10460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9243" y="1859523"/>
            <a:ext cx="433645" cy="104607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46596" y="2610794"/>
            <a:ext cx="855878" cy="855878"/>
          </a:xfrm>
          <a:prstGeom prst="ellipse">
            <a:avLst/>
          </a:prstGeom>
          <a:noFill/>
          <a:ln w="41275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0566" y="3033979"/>
            <a:ext cx="118872" cy="118872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0566" y="3060131"/>
            <a:ext cx="513527" cy="118872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2801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4211A"/>
                </a:solidFill>
                <a:latin typeface="Georgia"/>
              </a:rPr>
              <a:t>DealRoom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12801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1A5E3A"/>
                </a:solidFill>
                <a:latin typeface="Georgia"/>
              </a:rPr>
              <a:t>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148840"/>
            <a:ext cx="365760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3042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211A"/>
                </a:solidFill>
                <a:latin typeface="Helvetica Neue"/>
              </a:rPr>
              <a:t>DUE DILIGENCE.  REIMAGINED.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8288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A5E3A"/>
                </a:solidFill>
                <a:latin typeface="Georgia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8AF9C"/>
                </a:solidFill>
                <a:latin typeface="Georgia"/>
              </a:rPr>
              <a:t>Questions &amp; Discussion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39"/>
            <a:ext cx="4114800" cy="1524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211A"/>
                </a:solidFill>
                <a:latin typeface="Helvetica Neue"/>
              </a:rPr>
              <a:t>oceansmelody.om@gmail.com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AF9C"/>
                </a:solidFill>
                <a:latin typeface="Helvetica Neue"/>
              </a:rPr>
              <a:t>github.com/sShawraba  ·  DealRoom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029200"/>
            <a:ext cx="10607040" cy="914400"/>
          </a:xfrm>
          <a:prstGeom prst="rect">
            <a:avLst/>
          </a:prstGeom>
          <a:solidFill>
            <a:srgbClr val="E8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663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>
                <a:solidFill>
                  <a:srgbClr val="14211A"/>
                </a:solidFill>
                <a:latin typeface="Helvetica Neue"/>
              </a:rPr>
              <a:t>3 AI agents  ·  XGBoost risk classifier trained on 40k+ records  ·  Hybrid RAG retrieval  ·  Full citation trail  ·  Multi-tenant SaaS  ·  Governed approval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